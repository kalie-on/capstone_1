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66" r:id="rId3"/>
    <p:sldId id="264" r:id="rId4"/>
    <p:sldId id="257" r:id="rId5"/>
    <p:sldId id="258" r:id="rId6"/>
    <p:sldId id="259" r:id="rId7"/>
    <p:sldId id="261" r:id="rId8"/>
    <p:sldId id="262" r:id="rId9"/>
    <p:sldId id="263" r:id="rId10"/>
    <p:sldId id="268" r:id="rId11"/>
    <p:sldId id="270" r:id="rId12"/>
    <p:sldId id="265" r:id="rId13"/>
    <p:sldId id="272" r:id="rId14"/>
    <p:sldId id="267"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E14F9A-1831-411B-ABFC-F83C8FFCA007}" v="10" dt="2026-04-30T19:15:09.5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8" autoAdjust="0"/>
    <p:restoredTop sz="94660"/>
  </p:normalViewPr>
  <p:slideViewPr>
    <p:cSldViewPr snapToGrid="0">
      <p:cViewPr varScale="1">
        <p:scale>
          <a:sx n="78" d="100"/>
          <a:sy n="78" d="100"/>
        </p:scale>
        <p:origin x="878"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lebndifon2@gmail.com" userId="81ca02095870d75e" providerId="LiveId" clId="{F05DC02D-E9D4-4DE0-95D6-6F30518E5AB5}"/>
    <pc:docChg chg="custSel addSld modSld">
      <pc:chgData name="calebndifon2@gmail.com" userId="81ca02095870d75e" providerId="LiveId" clId="{F05DC02D-E9D4-4DE0-95D6-6F30518E5AB5}" dt="2026-04-30T19:15:31.853" v="485" actId="20577"/>
      <pc:docMkLst>
        <pc:docMk/>
      </pc:docMkLst>
      <pc:sldChg chg="modSp mod">
        <pc:chgData name="calebndifon2@gmail.com" userId="81ca02095870d75e" providerId="LiveId" clId="{F05DC02D-E9D4-4DE0-95D6-6F30518E5AB5}" dt="2026-04-30T18:09:34.584" v="9" actId="120"/>
        <pc:sldMkLst>
          <pc:docMk/>
          <pc:sldMk cId="3345837770" sldId="257"/>
        </pc:sldMkLst>
        <pc:spChg chg="mod">
          <ac:chgData name="calebndifon2@gmail.com" userId="81ca02095870d75e" providerId="LiveId" clId="{F05DC02D-E9D4-4DE0-95D6-6F30518E5AB5}" dt="2026-04-30T18:09:34.584" v="9" actId="120"/>
          <ac:spMkLst>
            <pc:docMk/>
            <pc:sldMk cId="3345837770" sldId="257"/>
            <ac:spMk id="4" creationId="{F3AA0E91-312C-34E9-963E-1C7A9B0385D4}"/>
          </ac:spMkLst>
        </pc:spChg>
      </pc:sldChg>
      <pc:sldChg chg="modSp mod">
        <pc:chgData name="calebndifon2@gmail.com" userId="81ca02095870d75e" providerId="LiveId" clId="{F05DC02D-E9D4-4DE0-95D6-6F30518E5AB5}" dt="2026-04-30T18:09:44.115" v="10" actId="120"/>
        <pc:sldMkLst>
          <pc:docMk/>
          <pc:sldMk cId="3213898420" sldId="258"/>
        </pc:sldMkLst>
        <pc:spChg chg="mod">
          <ac:chgData name="calebndifon2@gmail.com" userId="81ca02095870d75e" providerId="LiveId" clId="{F05DC02D-E9D4-4DE0-95D6-6F30518E5AB5}" dt="2026-04-30T18:09:44.115" v="10" actId="120"/>
          <ac:spMkLst>
            <pc:docMk/>
            <pc:sldMk cId="3213898420" sldId="258"/>
            <ac:spMk id="4" creationId="{2EFA1589-F1C3-B2FF-5E37-0B6FACC89FC3}"/>
          </ac:spMkLst>
        </pc:spChg>
      </pc:sldChg>
      <pc:sldChg chg="modSp mod">
        <pc:chgData name="calebndifon2@gmail.com" userId="81ca02095870d75e" providerId="LiveId" clId="{F05DC02D-E9D4-4DE0-95D6-6F30518E5AB5}" dt="2026-04-30T18:09:53.297" v="11" actId="120"/>
        <pc:sldMkLst>
          <pc:docMk/>
          <pc:sldMk cId="414792157" sldId="259"/>
        </pc:sldMkLst>
        <pc:spChg chg="mod">
          <ac:chgData name="calebndifon2@gmail.com" userId="81ca02095870d75e" providerId="LiveId" clId="{F05DC02D-E9D4-4DE0-95D6-6F30518E5AB5}" dt="2026-04-30T18:09:53.297" v="11" actId="120"/>
          <ac:spMkLst>
            <pc:docMk/>
            <pc:sldMk cId="414792157" sldId="259"/>
            <ac:spMk id="4" creationId="{29E52E67-DEC4-BA06-18E9-D7972F56C88D}"/>
          </ac:spMkLst>
        </pc:spChg>
      </pc:sldChg>
      <pc:sldChg chg="modSp mod">
        <pc:chgData name="calebndifon2@gmail.com" userId="81ca02095870d75e" providerId="LiveId" clId="{F05DC02D-E9D4-4DE0-95D6-6F30518E5AB5}" dt="2026-04-30T18:10:11.517" v="13" actId="120"/>
        <pc:sldMkLst>
          <pc:docMk/>
          <pc:sldMk cId="728144077" sldId="261"/>
        </pc:sldMkLst>
        <pc:spChg chg="mod">
          <ac:chgData name="calebndifon2@gmail.com" userId="81ca02095870d75e" providerId="LiveId" clId="{F05DC02D-E9D4-4DE0-95D6-6F30518E5AB5}" dt="2026-04-30T18:10:11.517" v="13" actId="120"/>
          <ac:spMkLst>
            <pc:docMk/>
            <pc:sldMk cId="728144077" sldId="261"/>
            <ac:spMk id="4" creationId="{CCFA274C-F9BA-9031-1DB3-A9430AACE3B4}"/>
          </ac:spMkLst>
        </pc:spChg>
      </pc:sldChg>
      <pc:sldChg chg="modSp mod">
        <pc:chgData name="calebndifon2@gmail.com" userId="81ca02095870d75e" providerId="LiveId" clId="{F05DC02D-E9D4-4DE0-95D6-6F30518E5AB5}" dt="2026-04-30T18:10:18.056" v="14" actId="120"/>
        <pc:sldMkLst>
          <pc:docMk/>
          <pc:sldMk cId="3936336274" sldId="262"/>
        </pc:sldMkLst>
        <pc:spChg chg="mod">
          <ac:chgData name="calebndifon2@gmail.com" userId="81ca02095870d75e" providerId="LiveId" clId="{F05DC02D-E9D4-4DE0-95D6-6F30518E5AB5}" dt="2026-04-30T18:10:18.056" v="14" actId="120"/>
          <ac:spMkLst>
            <pc:docMk/>
            <pc:sldMk cId="3936336274" sldId="262"/>
            <ac:spMk id="4" creationId="{7D23F294-63A0-E7F3-6A95-7E8E1AFBEE68}"/>
          </ac:spMkLst>
        </pc:spChg>
      </pc:sldChg>
      <pc:sldChg chg="delSp modSp mod modClrScheme chgLayout">
        <pc:chgData name="calebndifon2@gmail.com" userId="81ca02095870d75e" providerId="LiveId" clId="{F05DC02D-E9D4-4DE0-95D6-6F30518E5AB5}" dt="2026-04-30T18:14:00.396" v="43" actId="1076"/>
        <pc:sldMkLst>
          <pc:docMk/>
          <pc:sldMk cId="773863788" sldId="263"/>
        </pc:sldMkLst>
        <pc:spChg chg="mod ord">
          <ac:chgData name="calebndifon2@gmail.com" userId="81ca02095870d75e" providerId="LiveId" clId="{F05DC02D-E9D4-4DE0-95D6-6F30518E5AB5}" dt="2026-04-30T18:13:50.513" v="41" actId="700"/>
          <ac:spMkLst>
            <pc:docMk/>
            <pc:sldMk cId="773863788" sldId="263"/>
            <ac:spMk id="4" creationId="{F21E9130-D7A2-EAFF-5930-140945D88416}"/>
          </ac:spMkLst>
        </pc:spChg>
        <pc:spChg chg="del mod">
          <ac:chgData name="calebndifon2@gmail.com" userId="81ca02095870d75e" providerId="LiveId" clId="{F05DC02D-E9D4-4DE0-95D6-6F30518E5AB5}" dt="2026-04-30T18:13:31.329" v="30" actId="700"/>
          <ac:spMkLst>
            <pc:docMk/>
            <pc:sldMk cId="773863788" sldId="263"/>
            <ac:spMk id="5" creationId="{1F187F74-924C-F350-C23F-A4DA6E613E85}"/>
          </ac:spMkLst>
        </pc:spChg>
        <pc:spChg chg="del mod ord">
          <ac:chgData name="calebndifon2@gmail.com" userId="81ca02095870d75e" providerId="LiveId" clId="{F05DC02D-E9D4-4DE0-95D6-6F30518E5AB5}" dt="2026-04-30T18:13:50.513" v="41" actId="700"/>
          <ac:spMkLst>
            <pc:docMk/>
            <pc:sldMk cId="773863788" sldId="263"/>
            <ac:spMk id="7" creationId="{B9E7CB86-E8D4-7016-0239-A9448B03AFE2}"/>
          </ac:spMkLst>
        </pc:spChg>
        <pc:picChg chg="mod ord">
          <ac:chgData name="calebndifon2@gmail.com" userId="81ca02095870d75e" providerId="LiveId" clId="{F05DC02D-E9D4-4DE0-95D6-6F30518E5AB5}" dt="2026-04-30T18:14:00.396" v="43" actId="1076"/>
          <ac:picMkLst>
            <pc:docMk/>
            <pc:sldMk cId="773863788" sldId="263"/>
            <ac:picMk id="3" creationId="{C4700FF4-6435-AEA1-DBC8-98395B019E88}"/>
          </ac:picMkLst>
        </pc:picChg>
        <pc:picChg chg="mod ord">
          <ac:chgData name="calebndifon2@gmail.com" userId="81ca02095870d75e" providerId="LiveId" clId="{F05DC02D-E9D4-4DE0-95D6-6F30518E5AB5}" dt="2026-04-30T18:13:57.862" v="42" actId="1076"/>
          <ac:picMkLst>
            <pc:docMk/>
            <pc:sldMk cId="773863788" sldId="263"/>
            <ac:picMk id="10" creationId="{BE64F887-D8A8-4C8A-B567-33D3EB3932C8}"/>
          </ac:picMkLst>
        </pc:picChg>
        <pc:picChg chg="del">
          <ac:chgData name="calebndifon2@gmail.com" userId="81ca02095870d75e" providerId="LiveId" clId="{F05DC02D-E9D4-4DE0-95D6-6F30518E5AB5}" dt="2026-04-30T18:12:20.459" v="15" actId="478"/>
          <ac:picMkLst>
            <pc:docMk/>
            <pc:sldMk cId="773863788" sldId="263"/>
            <ac:picMk id="12" creationId="{8935116A-CB3C-0F0D-FDD4-F17DE317DD98}"/>
          </ac:picMkLst>
        </pc:picChg>
        <pc:picChg chg="del">
          <ac:chgData name="calebndifon2@gmail.com" userId="81ca02095870d75e" providerId="LiveId" clId="{F05DC02D-E9D4-4DE0-95D6-6F30518E5AB5}" dt="2026-04-30T18:12:24.429" v="16" actId="478"/>
          <ac:picMkLst>
            <pc:docMk/>
            <pc:sldMk cId="773863788" sldId="263"/>
            <ac:picMk id="14" creationId="{BC3FFCC4-52E4-E4AC-9315-1CD02E10F521}"/>
          </ac:picMkLst>
        </pc:picChg>
      </pc:sldChg>
      <pc:sldChg chg="modSp mod">
        <pc:chgData name="calebndifon2@gmail.com" userId="81ca02095870d75e" providerId="LiveId" clId="{F05DC02D-E9D4-4DE0-95D6-6F30518E5AB5}" dt="2026-04-30T18:26:41.002" v="416" actId="14100"/>
        <pc:sldMkLst>
          <pc:docMk/>
          <pc:sldMk cId="1251848882" sldId="265"/>
        </pc:sldMkLst>
        <pc:spChg chg="mod">
          <ac:chgData name="calebndifon2@gmail.com" userId="81ca02095870d75e" providerId="LiveId" clId="{F05DC02D-E9D4-4DE0-95D6-6F30518E5AB5}" dt="2026-04-30T18:25:04.627" v="393" actId="20577"/>
          <ac:spMkLst>
            <pc:docMk/>
            <pc:sldMk cId="1251848882" sldId="265"/>
            <ac:spMk id="9" creationId="{F03E1130-C6B1-DAA8-0797-3A58E4BB4CED}"/>
          </ac:spMkLst>
        </pc:spChg>
        <pc:spChg chg="mod">
          <ac:chgData name="calebndifon2@gmail.com" userId="81ca02095870d75e" providerId="LiveId" clId="{F05DC02D-E9D4-4DE0-95D6-6F30518E5AB5}" dt="2026-04-30T18:26:41.002" v="416" actId="14100"/>
          <ac:spMkLst>
            <pc:docMk/>
            <pc:sldMk cId="1251848882" sldId="265"/>
            <ac:spMk id="10" creationId="{F0F62143-A563-3020-8DE3-CDEDB69CA4FF}"/>
          </ac:spMkLst>
        </pc:spChg>
      </pc:sldChg>
      <pc:sldChg chg="addSp delSp modSp new mod modClrScheme chgLayout">
        <pc:chgData name="calebndifon2@gmail.com" userId="81ca02095870d75e" providerId="LiveId" clId="{F05DC02D-E9D4-4DE0-95D6-6F30518E5AB5}" dt="2026-04-30T19:15:31.853" v="485" actId="20577"/>
        <pc:sldMkLst>
          <pc:docMk/>
          <pc:sldMk cId="2553525841" sldId="272"/>
        </pc:sldMkLst>
        <pc:spChg chg="del">
          <ac:chgData name="calebndifon2@gmail.com" userId="81ca02095870d75e" providerId="LiveId" clId="{F05DC02D-E9D4-4DE0-95D6-6F30518E5AB5}" dt="2026-04-30T19:10:32.484" v="418" actId="700"/>
          <ac:spMkLst>
            <pc:docMk/>
            <pc:sldMk cId="2553525841" sldId="272"/>
            <ac:spMk id="2" creationId="{9EF94325-A357-F682-832A-2EC61CF30294}"/>
          </ac:spMkLst>
        </pc:spChg>
        <pc:spChg chg="del">
          <ac:chgData name="calebndifon2@gmail.com" userId="81ca02095870d75e" providerId="LiveId" clId="{F05DC02D-E9D4-4DE0-95D6-6F30518E5AB5}" dt="2026-04-30T19:10:32.484" v="418" actId="700"/>
          <ac:spMkLst>
            <pc:docMk/>
            <pc:sldMk cId="2553525841" sldId="272"/>
            <ac:spMk id="3" creationId="{C6728C91-1A06-5C69-A6B5-B7DFDDEE0283}"/>
          </ac:spMkLst>
        </pc:spChg>
        <pc:spChg chg="del">
          <ac:chgData name="calebndifon2@gmail.com" userId="81ca02095870d75e" providerId="LiveId" clId="{F05DC02D-E9D4-4DE0-95D6-6F30518E5AB5}" dt="2026-04-30T19:10:32.484" v="418" actId="700"/>
          <ac:spMkLst>
            <pc:docMk/>
            <pc:sldMk cId="2553525841" sldId="272"/>
            <ac:spMk id="4" creationId="{37B5BAC2-86C6-16F5-BDF5-AEE359543CB9}"/>
          </ac:spMkLst>
        </pc:spChg>
        <pc:spChg chg="add mod ord">
          <ac:chgData name="calebndifon2@gmail.com" userId="81ca02095870d75e" providerId="LiveId" clId="{F05DC02D-E9D4-4DE0-95D6-6F30518E5AB5}" dt="2026-04-30T19:15:31.853" v="485" actId="20577"/>
          <ac:spMkLst>
            <pc:docMk/>
            <pc:sldMk cId="2553525841" sldId="272"/>
            <ac:spMk id="7" creationId="{6073EC06-B247-5BA1-CE7C-8353BF8B876C}"/>
          </ac:spMkLst>
        </pc:spChg>
        <pc:picChg chg="add mod">
          <ac:chgData name="calebndifon2@gmail.com" userId="81ca02095870d75e" providerId="LiveId" clId="{F05DC02D-E9D4-4DE0-95D6-6F30518E5AB5}" dt="2026-04-30T19:12:41.810" v="436" actId="1076"/>
          <ac:picMkLst>
            <pc:docMk/>
            <pc:sldMk cId="2553525841" sldId="272"/>
            <ac:picMk id="6" creationId="{AB6B9731-C562-ADB3-9681-3D1BE2AF361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189377-2C47-4CF9-B419-1C3103BF0A1B}"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FC6671-19FC-42B4-9822-358D545E0AF8}" type="slidenum">
              <a:rPr lang="en-US" smtClean="0"/>
              <a:t>‹#›</a:t>
            </a:fld>
            <a:endParaRPr lang="en-US"/>
          </a:p>
        </p:txBody>
      </p:sp>
    </p:spTree>
    <p:extLst>
      <p:ext uri="{BB962C8B-B14F-4D97-AF65-F5344CB8AC3E}">
        <p14:creationId xmlns:p14="http://schemas.microsoft.com/office/powerpoint/2010/main" val="1444056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FC6671-19FC-42B4-9822-358D545E0AF8}" type="slidenum">
              <a:rPr lang="en-US" smtClean="0"/>
              <a:t>12</a:t>
            </a:fld>
            <a:endParaRPr lang="en-US"/>
          </a:p>
        </p:txBody>
      </p:sp>
    </p:spTree>
    <p:extLst>
      <p:ext uri="{BB962C8B-B14F-4D97-AF65-F5344CB8AC3E}">
        <p14:creationId xmlns:p14="http://schemas.microsoft.com/office/powerpoint/2010/main" val="14519193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E159DC7B-DED9-4CD4-A845-5F5CF23704D1}" type="datetimeFigureOut">
              <a:rPr lang="en-US" smtClean="0"/>
              <a:t>4/29/2026</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60066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15767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E159DC7B-DED9-4CD4-A845-5F5CF23704D1}" type="datetimeFigureOut">
              <a:rPr lang="en-US" smtClean="0"/>
              <a:t>4/29/2026</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282646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59DC7B-DED9-4CD4-A845-5F5CF23704D1}"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969867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59DC7B-DED9-4CD4-A845-5F5CF23704D1}"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799188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59DC7B-DED9-4CD4-A845-5F5CF23704D1}"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894671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59DC7B-DED9-4CD4-A845-5F5CF23704D1}"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1560744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159DC7B-DED9-4CD4-A845-5F5CF23704D1}"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050324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159DC7B-DED9-4CD4-A845-5F5CF23704D1}"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288401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159DC7B-DED9-4CD4-A845-5F5CF23704D1}"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1181269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159DC7B-DED9-4CD4-A845-5F5CF23704D1}" type="datetimeFigureOut">
              <a:rPr lang="en-US" smtClean="0"/>
              <a:t>4/29/2026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9876588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159DC7B-DED9-4CD4-A845-5F5CF23704D1}" type="datetimeFigureOut">
              <a:rPr lang="en-US" smtClean="0"/>
              <a:t>4/29/2026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47F692B-E176-4DAC-AC9E-5F2C49D9213E}"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69085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E159DC7B-DED9-4CD4-A845-5F5CF23704D1}" type="datetimeFigureOut">
              <a:rPr lang="en-US" smtClean="0"/>
              <a:t>4/29/2026</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2689273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159DC7B-DED9-4CD4-A845-5F5CF23704D1}"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0084626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159DC7B-DED9-4CD4-A845-5F5CF23704D1}"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715647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642644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E159DC7B-DED9-4CD4-A845-5F5CF23704D1}" type="datetimeFigureOut">
              <a:rPr lang="en-US" smtClean="0"/>
              <a:t>4/29/2026</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480415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159DC7B-DED9-4CD4-A845-5F5CF23704D1}" type="datetimeFigureOut">
              <a:rPr lang="en-US" smtClean="0"/>
              <a:t>4/29/2026</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47F692B-E176-4DAC-AC9E-5F2C49D9213E}" type="slidenum">
              <a:rPr lang="en-US" smtClean="0"/>
              <a:t>‹#›</a:t>
            </a:fld>
            <a:endParaRPr lang="en-US"/>
          </a:p>
        </p:txBody>
      </p:sp>
    </p:spTree>
    <p:extLst>
      <p:ext uri="{BB962C8B-B14F-4D97-AF65-F5344CB8AC3E}">
        <p14:creationId xmlns:p14="http://schemas.microsoft.com/office/powerpoint/2010/main" val="202245513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kalie-on/Capstone_1.git" TargetMode="External"/><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78D2-AFC5-C86A-11EB-8456A923B98B}"/>
              </a:ext>
            </a:extLst>
          </p:cNvPr>
          <p:cNvSpPr>
            <a:spLocks noGrp="1"/>
          </p:cNvSpPr>
          <p:nvPr>
            <p:ph type="ctrTitle"/>
          </p:nvPr>
        </p:nvSpPr>
        <p:spPr>
          <a:xfrm>
            <a:off x="4162567" y="818984"/>
            <a:ext cx="6714699" cy="3178689"/>
          </a:xfrm>
        </p:spPr>
        <p:txBody>
          <a:bodyPr>
            <a:normAutofit/>
          </a:bodyPr>
          <a:lstStyle/>
          <a:p>
            <a:pPr algn="l"/>
            <a:r>
              <a:rPr lang="en-US" sz="4800">
                <a:solidFill>
                  <a:srgbClr val="FFFFFF"/>
                </a:solidFill>
              </a:rPr>
              <a:t>Capstone Project</a:t>
            </a:r>
            <a:br>
              <a:rPr lang="en-US" sz="4800">
                <a:solidFill>
                  <a:srgbClr val="FFFFFF"/>
                </a:solidFill>
              </a:rPr>
            </a:br>
            <a:r>
              <a:rPr lang="en-US" sz="4800">
                <a:solidFill>
                  <a:srgbClr val="FFFFFF"/>
                </a:solidFill>
              </a:rPr>
              <a:t>EmporiUm Business Chain</a:t>
            </a:r>
          </a:p>
        </p:txBody>
      </p:sp>
      <p:sp>
        <p:nvSpPr>
          <p:cNvPr id="3" name="Subtitle 2">
            <a:extLst>
              <a:ext uri="{FF2B5EF4-FFF2-40B4-BE49-F238E27FC236}">
                <a16:creationId xmlns:a16="http://schemas.microsoft.com/office/drawing/2014/main" id="{667DB69B-E246-D0F0-555E-2362439047FE}"/>
              </a:ext>
            </a:extLst>
          </p:cNvPr>
          <p:cNvSpPr>
            <a:spLocks noGrp="1"/>
          </p:cNvSpPr>
          <p:nvPr>
            <p:ph type="subTitle" idx="1"/>
          </p:nvPr>
        </p:nvSpPr>
        <p:spPr>
          <a:xfrm>
            <a:off x="4285397" y="4960961"/>
            <a:ext cx="7055893" cy="1078054"/>
          </a:xfrm>
        </p:spPr>
        <p:txBody>
          <a:bodyPr>
            <a:normAutofit/>
          </a:bodyPr>
          <a:lstStyle/>
          <a:p>
            <a:pPr algn="l"/>
            <a:r>
              <a:rPr lang="en-US">
                <a:solidFill>
                  <a:srgbClr val="FFFFFF"/>
                </a:solidFill>
              </a:rPr>
              <a:t>Ndifon Caleb Ndakina</a:t>
            </a:r>
          </a:p>
        </p:txBody>
      </p:sp>
    </p:spTree>
    <p:extLst>
      <p:ext uri="{BB962C8B-B14F-4D97-AF65-F5344CB8AC3E}">
        <p14:creationId xmlns:p14="http://schemas.microsoft.com/office/powerpoint/2010/main" val="319665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B01E8-B568-1EFA-419D-9152D52315E2}"/>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Introduction</a:t>
            </a:r>
          </a:p>
        </p:txBody>
      </p:sp>
      <p:sp>
        <p:nvSpPr>
          <p:cNvPr id="3" name="Content Placeholder 2">
            <a:extLst>
              <a:ext uri="{FF2B5EF4-FFF2-40B4-BE49-F238E27FC236}">
                <a16:creationId xmlns:a16="http://schemas.microsoft.com/office/drawing/2014/main" id="{10D82374-91D6-F78D-55FC-2C07836B9E5C}"/>
              </a:ext>
            </a:extLst>
          </p:cNvPr>
          <p:cNvSpPr>
            <a:spLocks noGrp="1"/>
          </p:cNvSpPr>
          <p:nvPr>
            <p:ph idx="1"/>
          </p:nvPr>
        </p:nvSpPr>
        <p:spPr>
          <a:xfrm>
            <a:off x="6503158" y="649480"/>
            <a:ext cx="4862447" cy="5546047"/>
          </a:xfrm>
        </p:spPr>
        <p:txBody>
          <a:bodyPr anchor="ctr">
            <a:normAutofit lnSpcReduction="10000"/>
          </a:bodyPr>
          <a:lstStyle/>
          <a:p>
            <a:pPr>
              <a:buFont typeface="Wingdings" panose="05000000000000000000" pitchFamily="2" charset="2"/>
              <a:buChar char="v"/>
            </a:pPr>
            <a:r>
              <a:rPr lang="en-US" sz="2000" dirty="0"/>
              <a:t> I was assigned to perform a sales analysis for </a:t>
            </a:r>
            <a:r>
              <a:rPr lang="en-US" sz="2000" dirty="0" err="1"/>
              <a:t>EmporiUm</a:t>
            </a:r>
            <a:r>
              <a:rPr lang="en-US" sz="2000" dirty="0"/>
              <a:t>, a student bookstore chain that also sells technology products, art supplies, and other items in Colorado.</a:t>
            </a:r>
            <a:br>
              <a:rPr lang="en-US" sz="2000" dirty="0"/>
            </a:br>
            <a:r>
              <a:rPr lang="en-US" sz="2000" dirty="0"/>
              <a:t>• The goal of this analysis is to understand sales performance and identify key trends to support business decisions.</a:t>
            </a:r>
            <a:br>
              <a:rPr lang="en-US" sz="2000" dirty="0"/>
            </a:br>
            <a:r>
              <a:rPr lang="en-US" sz="2000" dirty="0"/>
              <a:t>• The sales manager for this territory is Jim Heck, located in the West Region.</a:t>
            </a:r>
            <a:br>
              <a:rPr lang="en-US" sz="2000" dirty="0"/>
            </a:br>
            <a:r>
              <a:rPr lang="en-US" sz="2000" dirty="0"/>
              <a:t>• complete this project, I used tools such as:</a:t>
            </a:r>
            <a:br>
              <a:rPr lang="en-US" sz="2000" dirty="0"/>
            </a:br>
            <a:r>
              <a:rPr lang="en-US" sz="2000" dirty="0"/>
              <a:t>◦ SQL – to query and analyze the data</a:t>
            </a:r>
            <a:br>
              <a:rPr lang="en-US" sz="2000" dirty="0"/>
            </a:br>
            <a:r>
              <a:rPr lang="en-US" sz="2000" dirty="0"/>
              <a:t>◦ Excel – to create charts and visualize trends</a:t>
            </a:r>
            <a:br>
              <a:rPr lang="en-US" sz="2000" dirty="0"/>
            </a:br>
            <a:r>
              <a:rPr lang="en-US" sz="2000" dirty="0"/>
              <a:t>◦ Git Bash &amp; GitHub – to manage and store my project files</a:t>
            </a:r>
            <a:br>
              <a:rPr lang="en-US" sz="2000" dirty="0"/>
            </a:br>
            <a:endParaRPr lang="en-US" sz="2000" dirty="0"/>
          </a:p>
          <a:p>
            <a:endParaRPr lang="en-US" sz="2000" dirty="0"/>
          </a:p>
        </p:txBody>
      </p:sp>
    </p:spTree>
    <p:extLst>
      <p:ext uri="{BB962C8B-B14F-4D97-AF65-F5344CB8AC3E}">
        <p14:creationId xmlns:p14="http://schemas.microsoft.com/office/powerpoint/2010/main" val="4102730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34A7-8080-CBDA-D5DA-DC875927A7D9}"/>
              </a:ext>
            </a:extLst>
          </p:cNvPr>
          <p:cNvSpPr>
            <a:spLocks noGrp="1"/>
          </p:cNvSpPr>
          <p:nvPr>
            <p:ph type="title"/>
          </p:nvPr>
        </p:nvSpPr>
        <p:spPr>
          <a:xfrm>
            <a:off x="761800" y="762001"/>
            <a:ext cx="5334197" cy="1708242"/>
          </a:xfrm>
        </p:spPr>
        <p:txBody>
          <a:bodyPr anchor="ctr">
            <a:normAutofit/>
          </a:bodyPr>
          <a:lstStyle/>
          <a:p>
            <a:r>
              <a:rPr lang="en-US" sz="4000" dirty="0"/>
              <a:t>Sales Analysis  Questions</a:t>
            </a:r>
          </a:p>
        </p:txBody>
      </p:sp>
      <p:sp>
        <p:nvSpPr>
          <p:cNvPr id="3" name="Content Placeholder 2">
            <a:extLst>
              <a:ext uri="{FF2B5EF4-FFF2-40B4-BE49-F238E27FC236}">
                <a16:creationId xmlns:a16="http://schemas.microsoft.com/office/drawing/2014/main" id="{F7D12227-F742-B5FE-802D-13CBC09F6CF8}"/>
              </a:ext>
            </a:extLst>
          </p:cNvPr>
          <p:cNvSpPr>
            <a:spLocks noGrp="1"/>
          </p:cNvSpPr>
          <p:nvPr>
            <p:ph idx="1"/>
          </p:nvPr>
        </p:nvSpPr>
        <p:spPr>
          <a:xfrm>
            <a:off x="761800" y="2470244"/>
            <a:ext cx="5334197" cy="3769835"/>
          </a:xfrm>
        </p:spPr>
        <p:txBody>
          <a:bodyPr anchor="ctr">
            <a:normAutofit lnSpcReduction="10000"/>
          </a:bodyPr>
          <a:lstStyle/>
          <a:p>
            <a:pPr marL="514350" indent="-514350">
              <a:buFont typeface="+mj-lt"/>
              <a:buAutoNum type="arabicPeriod"/>
            </a:pPr>
            <a:r>
              <a:rPr lang="en-US" sz="1400" dirty="0"/>
              <a:t>What is total revenue overall for sales in the assigned territory, plus the start date and end date that tell you what period the data covers?</a:t>
            </a:r>
          </a:p>
          <a:p>
            <a:pPr marL="514350" indent="-514350">
              <a:buFont typeface="+mj-lt"/>
              <a:buAutoNum type="arabicPeriod"/>
            </a:pPr>
            <a:r>
              <a:rPr lang="en-US" sz="1400" dirty="0"/>
              <a:t>What is the month by month revenue breakdown for the sales territory</a:t>
            </a:r>
            <a:endParaRPr lang="en-US" sz="1050" dirty="0"/>
          </a:p>
          <a:p>
            <a:pPr marL="514350" indent="-514350">
              <a:buFont typeface="+mj-lt"/>
              <a:buAutoNum type="arabicPeriod"/>
            </a:pPr>
            <a:r>
              <a:rPr lang="en-US" sz="1400" dirty="0"/>
              <a:t>Provide a comparison of total revenue for the specific sales territory and the region it belongs to.</a:t>
            </a:r>
          </a:p>
          <a:p>
            <a:pPr marL="514350" indent="-514350">
              <a:buFont typeface="+mj-lt"/>
              <a:buAutoNum type="arabicPeriod"/>
            </a:pPr>
            <a:r>
              <a:rPr lang="en-US" sz="1400" dirty="0"/>
              <a:t>What is the number of transactions per month and average transaction size by product category for the sales territory? </a:t>
            </a:r>
          </a:p>
          <a:p>
            <a:pPr marL="514350" indent="-514350">
              <a:buFont typeface="+mj-lt"/>
              <a:buAutoNum type="arabicPeriod"/>
            </a:pPr>
            <a:r>
              <a:rPr lang="en-US" sz="1400" dirty="0"/>
              <a:t>Can you provide a ranking of in-store sales performance by each store in the sales territory, or a ranking of online sales performance by state within an online sales territory? </a:t>
            </a:r>
          </a:p>
          <a:p>
            <a:pPr marL="514350" indent="-514350">
              <a:buFont typeface="+mj-lt"/>
              <a:buAutoNum type="arabicPeriod"/>
            </a:pPr>
            <a:r>
              <a:rPr lang="en-US" sz="1400" dirty="0"/>
              <a:t> What is your recommendation for where to focus sales attention in the next quarter? </a:t>
            </a:r>
          </a:p>
          <a:p>
            <a:endParaRPr lang="en-US" sz="1400" dirty="0"/>
          </a:p>
          <a:p>
            <a:endParaRPr lang="en-US" sz="1400" dirty="0"/>
          </a:p>
          <a:p>
            <a:endParaRPr lang="en-US" sz="1400" dirty="0"/>
          </a:p>
        </p:txBody>
      </p:sp>
      <p:pic>
        <p:nvPicPr>
          <p:cNvPr id="5" name="Picture 4" descr="Magnifying glass showing decling performance">
            <a:extLst>
              <a:ext uri="{FF2B5EF4-FFF2-40B4-BE49-F238E27FC236}">
                <a16:creationId xmlns:a16="http://schemas.microsoft.com/office/drawing/2014/main" id="{DDBF5FE9-5F8D-55BE-50C1-9EF8B0F9DB47}"/>
              </a:ext>
            </a:extLst>
          </p:cNvPr>
          <p:cNvPicPr>
            <a:picLocks noChangeAspect="1"/>
          </p:cNvPicPr>
          <p:nvPr/>
        </p:nvPicPr>
        <p:blipFill>
          <a:blip r:embed="rId2"/>
          <a:srcRect l="8800" r="39364"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663634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lumMod val="95000"/>
              <a:lumOff val="5000"/>
            </a:schemeClr>
          </a:bgClr>
        </a:patt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AA0E91-312C-34E9-963E-1C7A9B0385D4}"/>
              </a:ext>
            </a:extLst>
          </p:cNvPr>
          <p:cNvSpPr>
            <a:spLocks noGrp="1"/>
          </p:cNvSpPr>
          <p:nvPr>
            <p:ph type="title"/>
          </p:nvPr>
        </p:nvSpPr>
        <p:spPr/>
        <p:txBody>
          <a:bodyPr>
            <a:noAutofit/>
          </a:bodyPr>
          <a:lstStyle/>
          <a:p>
            <a:pPr algn="l"/>
            <a:r>
              <a:rPr lang="en-US" sz="2400" cap="none" dirty="0"/>
              <a:t>Confirm managers sale territory and region</a:t>
            </a:r>
            <a:br>
              <a:rPr lang="en-US" sz="2400" cap="none" dirty="0"/>
            </a:br>
            <a:br>
              <a:rPr lang="en-US" sz="2400" cap="none" dirty="0"/>
            </a:br>
            <a:r>
              <a:rPr lang="en-US" sz="2400" cap="none" dirty="0"/>
              <a:t>what is total revenue overall for sales in the assigned territory, plus the start date and end date that tell you what period the data covers?</a:t>
            </a:r>
          </a:p>
        </p:txBody>
      </p:sp>
      <p:sp>
        <p:nvSpPr>
          <p:cNvPr id="5" name="Text Placeholder 4">
            <a:extLst>
              <a:ext uri="{FF2B5EF4-FFF2-40B4-BE49-F238E27FC236}">
                <a16:creationId xmlns:a16="http://schemas.microsoft.com/office/drawing/2014/main" id="{950A2904-CD47-DF5A-23C4-AB9FC3F1EF71}"/>
              </a:ext>
            </a:extLst>
          </p:cNvPr>
          <p:cNvSpPr>
            <a:spLocks noGrp="1"/>
          </p:cNvSpPr>
          <p:nvPr>
            <p:ph type="body" idx="1"/>
          </p:nvPr>
        </p:nvSpPr>
        <p:spPr/>
        <p:txBody>
          <a:bodyPr/>
          <a:lstStyle/>
          <a:p>
            <a:r>
              <a:rPr lang="en-US" dirty="0"/>
              <a:t>Result</a:t>
            </a:r>
          </a:p>
        </p:txBody>
      </p:sp>
      <p:pic>
        <p:nvPicPr>
          <p:cNvPr id="3" name="Content Placeholder 2">
            <a:extLst>
              <a:ext uri="{FF2B5EF4-FFF2-40B4-BE49-F238E27FC236}">
                <a16:creationId xmlns:a16="http://schemas.microsoft.com/office/drawing/2014/main" id="{251045FB-D188-767B-DDA9-F497D000D0F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4212" y="2657367"/>
            <a:ext cx="3391373" cy="971686"/>
          </a:xfrm>
          <a:prstGeom prst="rect">
            <a:avLst/>
          </a:prstGeom>
        </p:spPr>
      </p:pic>
      <p:sp>
        <p:nvSpPr>
          <p:cNvPr id="7" name="Text Placeholder 6">
            <a:extLst>
              <a:ext uri="{FF2B5EF4-FFF2-40B4-BE49-F238E27FC236}">
                <a16:creationId xmlns:a16="http://schemas.microsoft.com/office/drawing/2014/main" id="{6A614EF3-EC45-20D1-8DF4-6C10ACC4A636}"/>
              </a:ext>
            </a:extLst>
          </p:cNvPr>
          <p:cNvSpPr>
            <a:spLocks noGrp="1"/>
          </p:cNvSpPr>
          <p:nvPr>
            <p:ph type="body" sz="quarter" idx="3"/>
          </p:nvPr>
        </p:nvSpPr>
        <p:spPr/>
        <p:txBody>
          <a:bodyPr/>
          <a:lstStyle/>
          <a:p>
            <a:r>
              <a:rPr lang="en-US" dirty="0"/>
              <a:t>Query</a:t>
            </a:r>
          </a:p>
        </p:txBody>
      </p:sp>
      <p:pic>
        <p:nvPicPr>
          <p:cNvPr id="10" name="Content Placeholder 9">
            <a:extLst>
              <a:ext uri="{FF2B5EF4-FFF2-40B4-BE49-F238E27FC236}">
                <a16:creationId xmlns:a16="http://schemas.microsoft.com/office/drawing/2014/main" id="{54B37EB4-4981-23F8-93B6-EE5623762995}"/>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84212" y="4595732"/>
            <a:ext cx="5183188" cy="622683"/>
          </a:xfrm>
          <a:prstGeom prst="rect">
            <a:avLst/>
          </a:prstGeom>
        </p:spPr>
      </p:pic>
      <p:pic>
        <p:nvPicPr>
          <p:cNvPr id="12" name="Picture 11">
            <a:extLst>
              <a:ext uri="{FF2B5EF4-FFF2-40B4-BE49-F238E27FC236}">
                <a16:creationId xmlns:a16="http://schemas.microsoft.com/office/drawing/2014/main" id="{D3A1921A-56C9-F9FE-3348-7246CB644A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25637" y="2510090"/>
            <a:ext cx="3286584" cy="771633"/>
          </a:xfrm>
          <a:prstGeom prst="rect">
            <a:avLst/>
          </a:prstGeom>
        </p:spPr>
      </p:pic>
      <p:pic>
        <p:nvPicPr>
          <p:cNvPr id="14" name="Picture 13">
            <a:extLst>
              <a:ext uri="{FF2B5EF4-FFF2-40B4-BE49-F238E27FC236}">
                <a16:creationId xmlns:a16="http://schemas.microsoft.com/office/drawing/2014/main" id="{B2647B3F-F2CC-0A30-2830-1D3F16F2B3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25637" y="3629053"/>
            <a:ext cx="4867954" cy="2188303"/>
          </a:xfrm>
          <a:prstGeom prst="rect">
            <a:avLst/>
          </a:prstGeom>
        </p:spPr>
      </p:pic>
    </p:spTree>
    <p:extLst>
      <p:ext uri="{BB962C8B-B14F-4D97-AF65-F5344CB8AC3E}">
        <p14:creationId xmlns:p14="http://schemas.microsoft.com/office/powerpoint/2010/main" val="3345837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D2D70-70CA-ECE6-781C-1EB7FE3EB9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FA1589-F1C3-B2FF-5E37-0B6FACC89FC3}"/>
              </a:ext>
            </a:extLst>
          </p:cNvPr>
          <p:cNvSpPr>
            <a:spLocks noGrp="1"/>
          </p:cNvSpPr>
          <p:nvPr>
            <p:ph type="title"/>
          </p:nvPr>
        </p:nvSpPr>
        <p:spPr/>
        <p:txBody>
          <a:bodyPr>
            <a:noAutofit/>
          </a:bodyPr>
          <a:lstStyle/>
          <a:p>
            <a:pPr algn="l"/>
            <a:r>
              <a:rPr lang="en-US" sz="2400" cap="none" dirty="0"/>
              <a:t>What is the month by month revenue breakdown for the sales territory? </a:t>
            </a:r>
          </a:p>
        </p:txBody>
      </p:sp>
      <p:sp>
        <p:nvSpPr>
          <p:cNvPr id="5" name="Text Placeholder 4">
            <a:extLst>
              <a:ext uri="{FF2B5EF4-FFF2-40B4-BE49-F238E27FC236}">
                <a16:creationId xmlns:a16="http://schemas.microsoft.com/office/drawing/2014/main" id="{54463F80-0CCA-B00A-2C9B-BA3F0A34CF61}"/>
              </a:ext>
            </a:extLst>
          </p:cNvPr>
          <p:cNvSpPr>
            <a:spLocks noGrp="1"/>
          </p:cNvSpPr>
          <p:nvPr>
            <p:ph type="body" idx="1"/>
          </p:nvPr>
        </p:nvSpPr>
        <p:spPr/>
        <p:txBody>
          <a:bodyPr/>
          <a:lstStyle/>
          <a:p>
            <a:r>
              <a:rPr lang="en-US" dirty="0"/>
              <a:t>Result</a:t>
            </a:r>
          </a:p>
        </p:txBody>
      </p:sp>
      <p:pic>
        <p:nvPicPr>
          <p:cNvPr id="16" name="Content Placeholder 15">
            <a:extLst>
              <a:ext uri="{FF2B5EF4-FFF2-40B4-BE49-F238E27FC236}">
                <a16:creationId xmlns:a16="http://schemas.microsoft.com/office/drawing/2014/main" id="{EF18C195-22E7-AFAE-89F6-8E05ECA4CD4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74447" y="3870213"/>
            <a:ext cx="4334480" cy="1609950"/>
          </a:xfrm>
          <a:prstGeom prst="rect">
            <a:avLst/>
          </a:prstGeom>
        </p:spPr>
      </p:pic>
      <p:sp>
        <p:nvSpPr>
          <p:cNvPr id="7" name="Text Placeholder 6">
            <a:extLst>
              <a:ext uri="{FF2B5EF4-FFF2-40B4-BE49-F238E27FC236}">
                <a16:creationId xmlns:a16="http://schemas.microsoft.com/office/drawing/2014/main" id="{F33739D1-0B74-8131-4AE4-A3D2812ED59D}"/>
              </a:ext>
            </a:extLst>
          </p:cNvPr>
          <p:cNvSpPr>
            <a:spLocks noGrp="1"/>
          </p:cNvSpPr>
          <p:nvPr>
            <p:ph type="body" sz="quarter" idx="3"/>
          </p:nvPr>
        </p:nvSpPr>
        <p:spPr/>
        <p:txBody>
          <a:bodyPr/>
          <a:lstStyle/>
          <a:p>
            <a:r>
              <a:rPr lang="en-US" dirty="0"/>
              <a:t>Query</a:t>
            </a:r>
          </a:p>
        </p:txBody>
      </p:sp>
      <p:pic>
        <p:nvPicPr>
          <p:cNvPr id="18" name="Content Placeholder 17">
            <a:extLst>
              <a:ext uri="{FF2B5EF4-FFF2-40B4-BE49-F238E27FC236}">
                <a16:creationId xmlns:a16="http://schemas.microsoft.com/office/drawing/2014/main" id="{30584F06-9A7D-1EE1-CC16-B76D70FE6C50}"/>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0" y="2883723"/>
            <a:ext cx="5183188" cy="2455193"/>
          </a:xfrm>
          <a:prstGeom prst="rect">
            <a:avLst/>
          </a:prstGeom>
        </p:spPr>
      </p:pic>
    </p:spTree>
    <p:extLst>
      <p:ext uri="{BB962C8B-B14F-4D97-AF65-F5344CB8AC3E}">
        <p14:creationId xmlns:p14="http://schemas.microsoft.com/office/powerpoint/2010/main" val="3213898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256C8-6EC8-4A9B-9F67-C1DC0B239E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E52E67-DEC4-BA06-18E9-D7972F56C88D}"/>
              </a:ext>
            </a:extLst>
          </p:cNvPr>
          <p:cNvSpPr>
            <a:spLocks noGrp="1"/>
          </p:cNvSpPr>
          <p:nvPr>
            <p:ph type="title"/>
          </p:nvPr>
        </p:nvSpPr>
        <p:spPr>
          <a:xfrm>
            <a:off x="839788" y="108126"/>
            <a:ext cx="10515600" cy="956040"/>
          </a:xfrm>
        </p:spPr>
        <p:txBody>
          <a:bodyPr>
            <a:noAutofit/>
          </a:bodyPr>
          <a:lstStyle/>
          <a:p>
            <a:pPr algn="l"/>
            <a:r>
              <a:rPr lang="en-US" sz="2400" cap="none" dirty="0"/>
              <a:t>Provide a comparison of total revenue for the specific sales territory and the region it belongs to. </a:t>
            </a:r>
          </a:p>
        </p:txBody>
      </p:sp>
      <p:sp>
        <p:nvSpPr>
          <p:cNvPr id="5" name="Text Placeholder 4">
            <a:extLst>
              <a:ext uri="{FF2B5EF4-FFF2-40B4-BE49-F238E27FC236}">
                <a16:creationId xmlns:a16="http://schemas.microsoft.com/office/drawing/2014/main" id="{2574CE91-5525-1ABC-D10A-C5FA3B97C00E}"/>
              </a:ext>
            </a:extLst>
          </p:cNvPr>
          <p:cNvSpPr>
            <a:spLocks noGrp="1"/>
          </p:cNvSpPr>
          <p:nvPr>
            <p:ph type="body" idx="1"/>
          </p:nvPr>
        </p:nvSpPr>
        <p:spPr>
          <a:xfrm>
            <a:off x="836612" y="862014"/>
            <a:ext cx="5157787" cy="823912"/>
          </a:xfrm>
        </p:spPr>
        <p:txBody>
          <a:bodyPr/>
          <a:lstStyle/>
          <a:p>
            <a:r>
              <a:rPr lang="en-US" dirty="0"/>
              <a:t>Result</a:t>
            </a:r>
          </a:p>
        </p:txBody>
      </p:sp>
      <p:pic>
        <p:nvPicPr>
          <p:cNvPr id="3" name="Content Placeholder 2">
            <a:extLst>
              <a:ext uri="{FF2B5EF4-FFF2-40B4-BE49-F238E27FC236}">
                <a16:creationId xmlns:a16="http://schemas.microsoft.com/office/drawing/2014/main" id="{FD408067-07B6-E497-CA6B-DB13D649336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31703" y="1837008"/>
            <a:ext cx="2591162" cy="828791"/>
          </a:xfrm>
          <a:prstGeom prst="rect">
            <a:avLst/>
          </a:prstGeom>
        </p:spPr>
      </p:pic>
      <p:sp>
        <p:nvSpPr>
          <p:cNvPr id="7" name="Text Placeholder 6">
            <a:extLst>
              <a:ext uri="{FF2B5EF4-FFF2-40B4-BE49-F238E27FC236}">
                <a16:creationId xmlns:a16="http://schemas.microsoft.com/office/drawing/2014/main" id="{204DBED5-B1DA-010B-90A4-F91E1DE15157}"/>
              </a:ext>
            </a:extLst>
          </p:cNvPr>
          <p:cNvSpPr>
            <a:spLocks noGrp="1"/>
          </p:cNvSpPr>
          <p:nvPr>
            <p:ph type="body" sz="quarter" idx="3"/>
          </p:nvPr>
        </p:nvSpPr>
        <p:spPr>
          <a:xfrm>
            <a:off x="6169024" y="1018697"/>
            <a:ext cx="5183188" cy="538623"/>
          </a:xfrm>
        </p:spPr>
        <p:txBody>
          <a:bodyPr/>
          <a:lstStyle/>
          <a:p>
            <a:r>
              <a:rPr lang="en-US" dirty="0"/>
              <a:t>Query</a:t>
            </a:r>
          </a:p>
        </p:txBody>
      </p:sp>
      <p:pic>
        <p:nvPicPr>
          <p:cNvPr id="10" name="Content Placeholder 9">
            <a:extLst>
              <a:ext uri="{FF2B5EF4-FFF2-40B4-BE49-F238E27FC236}">
                <a16:creationId xmlns:a16="http://schemas.microsoft.com/office/drawing/2014/main" id="{F1B51099-4FB5-66FD-57BF-43676C7B3C4C}"/>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096000" y="1548150"/>
            <a:ext cx="5183188" cy="2031817"/>
          </a:xfrm>
          <a:prstGeom prst="rect">
            <a:avLst/>
          </a:prstGeom>
        </p:spPr>
      </p:pic>
      <p:pic>
        <p:nvPicPr>
          <p:cNvPr id="12" name="Picture 11">
            <a:extLst>
              <a:ext uri="{FF2B5EF4-FFF2-40B4-BE49-F238E27FC236}">
                <a16:creationId xmlns:a16="http://schemas.microsoft.com/office/drawing/2014/main" id="{B7080EA9-3EF0-19D8-AA78-EA8FBFBF60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3976" y="3711122"/>
            <a:ext cx="2181529" cy="962159"/>
          </a:xfrm>
          <a:prstGeom prst="rect">
            <a:avLst/>
          </a:prstGeom>
        </p:spPr>
      </p:pic>
      <p:pic>
        <p:nvPicPr>
          <p:cNvPr id="14" name="Picture 13">
            <a:extLst>
              <a:ext uri="{FF2B5EF4-FFF2-40B4-BE49-F238E27FC236}">
                <a16:creationId xmlns:a16="http://schemas.microsoft.com/office/drawing/2014/main" id="{3DF7877B-F1CF-FE29-D3E2-598791F4B9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9431" y="3747084"/>
            <a:ext cx="4620270" cy="1031393"/>
          </a:xfrm>
          <a:prstGeom prst="rect">
            <a:avLst/>
          </a:prstGeom>
        </p:spPr>
      </p:pic>
      <p:pic>
        <p:nvPicPr>
          <p:cNvPr id="16" name="Picture 15">
            <a:extLst>
              <a:ext uri="{FF2B5EF4-FFF2-40B4-BE49-F238E27FC236}">
                <a16:creationId xmlns:a16="http://schemas.microsoft.com/office/drawing/2014/main" id="{592A9D0D-AA70-24D6-EDD6-5F7A39FFAC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93363" y="5581590"/>
            <a:ext cx="2353003" cy="828791"/>
          </a:xfrm>
          <a:prstGeom prst="rect">
            <a:avLst/>
          </a:prstGeom>
        </p:spPr>
      </p:pic>
      <p:pic>
        <p:nvPicPr>
          <p:cNvPr id="20" name="Picture 19">
            <a:extLst>
              <a:ext uri="{FF2B5EF4-FFF2-40B4-BE49-F238E27FC236}">
                <a16:creationId xmlns:a16="http://schemas.microsoft.com/office/drawing/2014/main" id="{1B2D75E7-85CB-F1E6-B2FC-AB1A276B28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02185" y="5067263"/>
            <a:ext cx="4486901" cy="1343118"/>
          </a:xfrm>
          <a:prstGeom prst="rect">
            <a:avLst/>
          </a:prstGeom>
        </p:spPr>
      </p:pic>
    </p:spTree>
    <p:extLst>
      <p:ext uri="{BB962C8B-B14F-4D97-AF65-F5344CB8AC3E}">
        <p14:creationId xmlns:p14="http://schemas.microsoft.com/office/powerpoint/2010/main" val="414792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00FA9-CDF8-75B2-E92A-4F097CB55D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FA274C-F9BA-9031-1DB3-A9430AACE3B4}"/>
              </a:ext>
            </a:extLst>
          </p:cNvPr>
          <p:cNvSpPr>
            <a:spLocks noGrp="1"/>
          </p:cNvSpPr>
          <p:nvPr>
            <p:ph type="title"/>
          </p:nvPr>
        </p:nvSpPr>
        <p:spPr/>
        <p:txBody>
          <a:bodyPr>
            <a:noAutofit/>
          </a:bodyPr>
          <a:lstStyle/>
          <a:p>
            <a:pPr algn="l"/>
            <a:r>
              <a:rPr lang="en-US" sz="2400" cap="none" dirty="0"/>
              <a:t>What is the number of transactions per month and average transaction size by product category for the sales territory? </a:t>
            </a:r>
          </a:p>
        </p:txBody>
      </p:sp>
      <p:sp>
        <p:nvSpPr>
          <p:cNvPr id="5" name="Text Placeholder 4">
            <a:extLst>
              <a:ext uri="{FF2B5EF4-FFF2-40B4-BE49-F238E27FC236}">
                <a16:creationId xmlns:a16="http://schemas.microsoft.com/office/drawing/2014/main" id="{398A8A28-295C-4DB3-ECD4-B81ED17DFBE5}"/>
              </a:ext>
            </a:extLst>
          </p:cNvPr>
          <p:cNvSpPr>
            <a:spLocks noGrp="1"/>
          </p:cNvSpPr>
          <p:nvPr>
            <p:ph type="body" idx="1"/>
          </p:nvPr>
        </p:nvSpPr>
        <p:spPr/>
        <p:txBody>
          <a:bodyPr/>
          <a:lstStyle/>
          <a:p>
            <a:r>
              <a:rPr lang="en-US" dirty="0"/>
              <a:t>Result</a:t>
            </a:r>
          </a:p>
        </p:txBody>
      </p:sp>
      <p:pic>
        <p:nvPicPr>
          <p:cNvPr id="3" name="Content Placeholder 2">
            <a:extLst>
              <a:ext uri="{FF2B5EF4-FFF2-40B4-BE49-F238E27FC236}">
                <a16:creationId xmlns:a16="http://schemas.microsoft.com/office/drawing/2014/main" id="{B6486D0A-B3B3-FDD6-7E0D-987B09650E8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6162" y="2863152"/>
            <a:ext cx="5157787" cy="1667300"/>
          </a:xfrm>
          <a:prstGeom prst="rect">
            <a:avLst/>
          </a:prstGeom>
        </p:spPr>
      </p:pic>
      <p:sp>
        <p:nvSpPr>
          <p:cNvPr id="7" name="Text Placeholder 6">
            <a:extLst>
              <a:ext uri="{FF2B5EF4-FFF2-40B4-BE49-F238E27FC236}">
                <a16:creationId xmlns:a16="http://schemas.microsoft.com/office/drawing/2014/main" id="{399A4A8D-D02D-5615-3116-81116EA08D07}"/>
              </a:ext>
            </a:extLst>
          </p:cNvPr>
          <p:cNvSpPr>
            <a:spLocks noGrp="1"/>
          </p:cNvSpPr>
          <p:nvPr>
            <p:ph type="body" sz="quarter" idx="3"/>
          </p:nvPr>
        </p:nvSpPr>
        <p:spPr/>
        <p:txBody>
          <a:bodyPr/>
          <a:lstStyle/>
          <a:p>
            <a:r>
              <a:rPr lang="en-US" dirty="0"/>
              <a:t>Query</a:t>
            </a:r>
          </a:p>
        </p:txBody>
      </p:sp>
      <p:pic>
        <p:nvPicPr>
          <p:cNvPr id="10" name="Content Placeholder 9">
            <a:extLst>
              <a:ext uri="{FF2B5EF4-FFF2-40B4-BE49-F238E27FC236}">
                <a16:creationId xmlns:a16="http://schemas.microsoft.com/office/drawing/2014/main" id="{BAFB99BB-E35C-59CF-6155-E2996B7099D2}"/>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0" y="3147786"/>
            <a:ext cx="5334000" cy="3054803"/>
          </a:xfrm>
          <a:prstGeom prst="rect">
            <a:avLst/>
          </a:prstGeom>
        </p:spPr>
      </p:pic>
    </p:spTree>
    <p:extLst>
      <p:ext uri="{BB962C8B-B14F-4D97-AF65-F5344CB8AC3E}">
        <p14:creationId xmlns:p14="http://schemas.microsoft.com/office/powerpoint/2010/main" val="728144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103DD-5EF9-03CA-2147-2C6C1632C2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23F294-63A0-E7F3-6A95-7E8E1AFBEE68}"/>
              </a:ext>
            </a:extLst>
          </p:cNvPr>
          <p:cNvSpPr>
            <a:spLocks noGrp="1"/>
          </p:cNvSpPr>
          <p:nvPr>
            <p:ph type="title"/>
          </p:nvPr>
        </p:nvSpPr>
        <p:spPr/>
        <p:txBody>
          <a:bodyPr>
            <a:noAutofit/>
          </a:bodyPr>
          <a:lstStyle/>
          <a:p>
            <a:pPr algn="l"/>
            <a:r>
              <a:rPr lang="en-US" sz="2400" cap="none" dirty="0"/>
              <a:t>Can you provide a ranking of in-store sales performance by each store in the sales territory, or a ranking of online sales performance by state within an online sales territory? </a:t>
            </a:r>
          </a:p>
        </p:txBody>
      </p:sp>
      <p:sp>
        <p:nvSpPr>
          <p:cNvPr id="5" name="Text Placeholder 4">
            <a:extLst>
              <a:ext uri="{FF2B5EF4-FFF2-40B4-BE49-F238E27FC236}">
                <a16:creationId xmlns:a16="http://schemas.microsoft.com/office/drawing/2014/main" id="{21BB7D5B-F11A-2179-AB5C-2015F0E4D66A}"/>
              </a:ext>
            </a:extLst>
          </p:cNvPr>
          <p:cNvSpPr>
            <a:spLocks noGrp="1"/>
          </p:cNvSpPr>
          <p:nvPr>
            <p:ph type="body" idx="1"/>
          </p:nvPr>
        </p:nvSpPr>
        <p:spPr/>
        <p:txBody>
          <a:bodyPr/>
          <a:lstStyle/>
          <a:p>
            <a:r>
              <a:rPr lang="en-US" dirty="0"/>
              <a:t>Result</a:t>
            </a:r>
          </a:p>
        </p:txBody>
      </p:sp>
      <p:pic>
        <p:nvPicPr>
          <p:cNvPr id="3" name="Content Placeholder 2">
            <a:extLst>
              <a:ext uri="{FF2B5EF4-FFF2-40B4-BE49-F238E27FC236}">
                <a16:creationId xmlns:a16="http://schemas.microsoft.com/office/drawing/2014/main" id="{0189B9E2-18AF-D5FC-9811-18FA55E365E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05491" y="2946841"/>
            <a:ext cx="5157787" cy="1631686"/>
          </a:xfrm>
          <a:prstGeom prst="rect">
            <a:avLst/>
          </a:prstGeom>
        </p:spPr>
      </p:pic>
      <p:sp>
        <p:nvSpPr>
          <p:cNvPr id="7" name="Text Placeholder 6">
            <a:extLst>
              <a:ext uri="{FF2B5EF4-FFF2-40B4-BE49-F238E27FC236}">
                <a16:creationId xmlns:a16="http://schemas.microsoft.com/office/drawing/2014/main" id="{ADBF1932-D49E-554A-1C5A-BC84EAACFC77}"/>
              </a:ext>
            </a:extLst>
          </p:cNvPr>
          <p:cNvSpPr>
            <a:spLocks noGrp="1"/>
          </p:cNvSpPr>
          <p:nvPr>
            <p:ph type="body" sz="quarter" idx="3"/>
          </p:nvPr>
        </p:nvSpPr>
        <p:spPr/>
        <p:txBody>
          <a:bodyPr/>
          <a:lstStyle/>
          <a:p>
            <a:r>
              <a:rPr lang="en-US" dirty="0"/>
              <a:t>Query</a:t>
            </a:r>
          </a:p>
        </p:txBody>
      </p:sp>
      <p:pic>
        <p:nvPicPr>
          <p:cNvPr id="10" name="Content Placeholder 9">
            <a:extLst>
              <a:ext uri="{FF2B5EF4-FFF2-40B4-BE49-F238E27FC236}">
                <a16:creationId xmlns:a16="http://schemas.microsoft.com/office/drawing/2014/main" id="{99CA1614-F6B6-21F5-7106-54449FD71DE0}"/>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0" y="2828854"/>
            <a:ext cx="5183188" cy="2801056"/>
          </a:xfrm>
          <a:prstGeom prst="rect">
            <a:avLst/>
          </a:prstGeom>
        </p:spPr>
      </p:pic>
    </p:spTree>
    <p:extLst>
      <p:ext uri="{BB962C8B-B14F-4D97-AF65-F5344CB8AC3E}">
        <p14:creationId xmlns:p14="http://schemas.microsoft.com/office/powerpoint/2010/main" val="3936336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74D9A-5C83-5EAA-3D5F-C0ACEC008D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1E9130-D7A2-EAFF-5930-140945D88416}"/>
              </a:ext>
            </a:extLst>
          </p:cNvPr>
          <p:cNvSpPr>
            <a:spLocks noGrp="1"/>
          </p:cNvSpPr>
          <p:nvPr>
            <p:ph type="title" idx="4294967295"/>
          </p:nvPr>
        </p:nvSpPr>
        <p:spPr>
          <a:xfrm>
            <a:off x="1790700" y="998538"/>
            <a:ext cx="10401300" cy="2070100"/>
          </a:xfrm>
        </p:spPr>
        <p:txBody>
          <a:bodyPr>
            <a:noAutofit/>
          </a:bodyPr>
          <a:lstStyle/>
          <a:p>
            <a:pPr algn="l"/>
            <a:r>
              <a:rPr lang="en-US" sz="1800" cap="none" dirty="0"/>
              <a:t>What is your recommendation for where to focus sales attention in the next quarter?</a:t>
            </a:r>
            <a:br>
              <a:rPr lang="en-US" sz="1800" cap="none" dirty="0"/>
            </a:br>
            <a:br>
              <a:rPr lang="en-US" sz="1800" cap="none" dirty="0"/>
            </a:br>
            <a:br>
              <a:rPr lang="en-US" sz="1800" cap="none" dirty="0"/>
            </a:br>
            <a:r>
              <a:rPr lang="en-US" sz="1400" cap="none" dirty="0"/>
              <a:t>After I analyze the sales data by running SQL queries to understand which stores, categories, and sales channels perform the best.</a:t>
            </a:r>
            <a:br>
              <a:rPr lang="en-US" sz="1400" cap="none" dirty="0"/>
            </a:br>
            <a:br>
              <a:rPr lang="en-US" sz="1400" cap="none" dirty="0"/>
            </a:br>
            <a:r>
              <a:rPr lang="en-US" sz="1400" cap="none" dirty="0"/>
              <a:t>My recommendation is to focus more resources on the stores that are bringing in the highest revenue, such as parker and technology and accessories, because they are already performing well and can generate even more profit.</a:t>
            </a:r>
            <a:br>
              <a:rPr lang="en-US" sz="1400" cap="none" dirty="0"/>
            </a:br>
            <a:br>
              <a:rPr lang="en-US" sz="1400" cap="none" dirty="0"/>
            </a:br>
            <a:r>
              <a:rPr lang="en-US" sz="1400" cap="none" dirty="0"/>
              <a:t>The company should also continue to grow its online sales, since online sales are contributing strong revenue and have good potential for further growth.</a:t>
            </a:r>
            <a:br>
              <a:rPr lang="en-US" sz="1400" cap="none" dirty="0"/>
            </a:br>
            <a:br>
              <a:rPr lang="en-US" sz="1400" cap="none" dirty="0"/>
            </a:br>
            <a:r>
              <a:rPr lang="en-US" sz="1400" cap="none" dirty="0"/>
              <a:t>At the same time, stores with lower revenue should not be ignored. They should be supported and given opportunities to grow by expanding their market and improving performance.</a:t>
            </a:r>
            <a:br>
              <a:rPr lang="en-US" sz="1400" cap="none" dirty="0"/>
            </a:br>
            <a:br>
              <a:rPr lang="en-US" sz="1400" cap="none" dirty="0"/>
            </a:br>
            <a:br>
              <a:rPr lang="en-US" sz="1400" cap="none" dirty="0"/>
            </a:br>
            <a:endParaRPr lang="en-US" sz="1400" cap="none" dirty="0"/>
          </a:p>
        </p:txBody>
      </p:sp>
      <p:pic>
        <p:nvPicPr>
          <p:cNvPr id="3" name="Content Placeholder 2">
            <a:extLst>
              <a:ext uri="{FF2B5EF4-FFF2-40B4-BE49-F238E27FC236}">
                <a16:creationId xmlns:a16="http://schemas.microsoft.com/office/drawing/2014/main" id="{C4700FF4-6435-AEA1-DBC8-98395B019E88}"/>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542611" y="5399881"/>
            <a:ext cx="3324225" cy="828675"/>
          </a:xfrm>
          <a:prstGeom prst="rect">
            <a:avLst/>
          </a:prstGeom>
        </p:spPr>
      </p:pic>
      <p:pic>
        <p:nvPicPr>
          <p:cNvPr id="10" name="Content Placeholder 9">
            <a:extLst>
              <a:ext uri="{FF2B5EF4-FFF2-40B4-BE49-F238E27FC236}">
                <a16:creationId xmlns:a16="http://schemas.microsoft.com/office/drawing/2014/main" id="{BE64F887-D8A8-4C8A-B567-33D3EB3932C8}"/>
              </a:ext>
            </a:extLst>
          </p:cNvPr>
          <p:cNvPicPr>
            <a:picLocks noGrp="1" noChangeAspect="1"/>
          </p:cNvPicPr>
          <p:nvPr>
            <p:ph sz="quarter" idx="4294967295"/>
          </p:nvPr>
        </p:nvPicPr>
        <p:blipFill>
          <a:blip r:embed="rId3">
            <a:extLst>
              <a:ext uri="{28A0092B-C50C-407E-A947-70E740481C1C}">
                <a14:useLocalDpi xmlns:a14="http://schemas.microsoft.com/office/drawing/2010/main" val="0"/>
              </a:ext>
            </a:extLst>
          </a:blip>
          <a:stretch>
            <a:fillRect/>
          </a:stretch>
        </p:blipFill>
        <p:spPr>
          <a:xfrm>
            <a:off x="8016282" y="5292726"/>
            <a:ext cx="3371850" cy="1042987"/>
          </a:xfrm>
          <a:prstGeom prst="rect">
            <a:avLst/>
          </a:prstGeom>
        </p:spPr>
      </p:pic>
    </p:spTree>
    <p:extLst>
      <p:ext uri="{BB962C8B-B14F-4D97-AF65-F5344CB8AC3E}">
        <p14:creationId xmlns:p14="http://schemas.microsoft.com/office/powerpoint/2010/main" val="773863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3DB91FD-859B-7EF5-F090-7D49F8394220}"/>
              </a:ext>
            </a:extLst>
          </p:cNvPr>
          <p:cNvSpPr>
            <a:spLocks noGrp="1"/>
          </p:cNvSpPr>
          <p:nvPr>
            <p:ph type="title"/>
          </p:nvPr>
        </p:nvSpPr>
        <p:spPr>
          <a:xfrm>
            <a:off x="871442" y="216310"/>
            <a:ext cx="4353116" cy="796413"/>
          </a:xfrm>
        </p:spPr>
        <p:txBody>
          <a:bodyPr vert="horz" lIns="91440" tIns="45720" rIns="91440" bIns="45720" rtlCol="0" anchor="b">
            <a:normAutofit/>
          </a:bodyPr>
          <a:lstStyle/>
          <a:p>
            <a:pPr algn="ctr"/>
            <a:r>
              <a:rPr lang="en-US" dirty="0"/>
              <a:t>Visualization</a:t>
            </a:r>
            <a:endParaRPr lang="en-US" kern="1200" dirty="0">
              <a:solidFill>
                <a:srgbClr val="595959"/>
              </a:solidFill>
              <a:latin typeface="+mj-lt"/>
              <a:ea typeface="+mj-ea"/>
              <a:cs typeface="+mj-cs"/>
            </a:endParaRPr>
          </a:p>
        </p:txBody>
      </p:sp>
      <p:pic>
        <p:nvPicPr>
          <p:cNvPr id="8" name="Content Placeholder 7">
            <a:extLst>
              <a:ext uri="{FF2B5EF4-FFF2-40B4-BE49-F238E27FC236}">
                <a16:creationId xmlns:a16="http://schemas.microsoft.com/office/drawing/2014/main" id="{99B2BE3A-CD70-8017-A0BC-57957C80E2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07297" y="216311"/>
            <a:ext cx="6607721" cy="6001462"/>
          </a:xfrm>
          <a:prstGeom prst="rect">
            <a:avLst/>
          </a:prstGeom>
        </p:spPr>
      </p:pic>
      <p:sp>
        <p:nvSpPr>
          <p:cNvPr id="10" name="Text Placeholder 9">
            <a:extLst>
              <a:ext uri="{FF2B5EF4-FFF2-40B4-BE49-F238E27FC236}">
                <a16:creationId xmlns:a16="http://schemas.microsoft.com/office/drawing/2014/main" id="{87F41DF1-ABDD-7BA6-9F37-57EB10194F91}"/>
              </a:ext>
            </a:extLst>
          </p:cNvPr>
          <p:cNvSpPr>
            <a:spLocks noGrp="1"/>
          </p:cNvSpPr>
          <p:nvPr>
            <p:ph type="body" sz="half" idx="2"/>
          </p:nvPr>
        </p:nvSpPr>
        <p:spPr>
          <a:xfrm>
            <a:off x="871442" y="1238866"/>
            <a:ext cx="4353116" cy="4978906"/>
          </a:xfrm>
        </p:spPr>
        <p:txBody>
          <a:bodyPr vert="horz" lIns="91440" tIns="45720" rIns="91440" bIns="45720" rtlCol="0" anchor="t">
            <a:normAutofit lnSpcReduction="10000"/>
          </a:bodyPr>
          <a:lstStyle/>
          <a:p>
            <a:endParaRPr lang="en-US" sz="2000" dirty="0"/>
          </a:p>
          <a:p>
            <a:r>
              <a:rPr lang="en-US" sz="2000" dirty="0"/>
              <a:t>Question</a:t>
            </a:r>
          </a:p>
          <a:p>
            <a:r>
              <a:rPr lang="en-US" sz="2000" dirty="0"/>
              <a:t>What is the number of transactions  and average transaction size by product category</a:t>
            </a:r>
          </a:p>
          <a:p>
            <a:pPr indent="-228600">
              <a:buFont typeface="Arial" panose="020B0604020202020204" pitchFamily="34" charset="0"/>
              <a:buChar char="•"/>
            </a:pPr>
            <a:endParaRPr lang="en-US" sz="2000" dirty="0">
              <a:solidFill>
                <a:srgbClr val="595959"/>
              </a:solidFill>
            </a:endParaRPr>
          </a:p>
          <a:p>
            <a:pPr indent="-228600">
              <a:buFont typeface="Arial" panose="020B0604020202020204" pitchFamily="34" charset="0"/>
              <a:buChar char="•"/>
            </a:pPr>
            <a:r>
              <a:rPr lang="en-US" sz="1700" dirty="0"/>
              <a:t>The chart compares product categories based on transaction size and number of sales.</a:t>
            </a:r>
            <a:br>
              <a:rPr lang="en-US" sz="1700" dirty="0"/>
            </a:br>
            <a:r>
              <a:rPr lang="en-US" sz="1700" dirty="0"/>
              <a:t>Technology  have the highest transaction value, meaning customers spend more per purchase.</a:t>
            </a:r>
          </a:p>
          <a:p>
            <a:pPr indent="-228600">
              <a:buFont typeface="Arial" panose="020B0604020202020204" pitchFamily="34" charset="0"/>
              <a:buChar char="•"/>
            </a:pPr>
            <a:br>
              <a:rPr lang="en-US" sz="1700" dirty="0"/>
            </a:br>
            <a:r>
              <a:rPr lang="en-US" sz="1700" dirty="0"/>
              <a:t>Stationery category have more transactions but smaller purchase amounts.</a:t>
            </a:r>
            <a:br>
              <a:rPr lang="en-US" sz="1700" dirty="0"/>
            </a:br>
            <a:r>
              <a:rPr lang="en-US" sz="1700" dirty="0"/>
              <a:t>This shows a balance between high and lower value sales.</a:t>
            </a:r>
          </a:p>
          <a:p>
            <a:pPr indent="-228600">
              <a:buFont typeface="Arial" panose="020B0604020202020204" pitchFamily="34" charset="0"/>
              <a:buChar char="•"/>
            </a:pPr>
            <a:endParaRPr lang="en-US" sz="2000" dirty="0">
              <a:solidFill>
                <a:srgbClr val="595959"/>
              </a:solidFill>
            </a:endParaRPr>
          </a:p>
        </p:txBody>
      </p:sp>
    </p:spTree>
    <p:extLst>
      <p:ext uri="{BB962C8B-B14F-4D97-AF65-F5344CB8AC3E}">
        <p14:creationId xmlns:p14="http://schemas.microsoft.com/office/powerpoint/2010/main" val="862036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A6B4E-FE0D-BAAB-420E-7751A42716D4}"/>
              </a:ext>
            </a:extLst>
          </p:cNvPr>
          <p:cNvSpPr>
            <a:spLocks noGrp="1"/>
          </p:cNvSpPr>
          <p:nvPr>
            <p:ph type="title"/>
          </p:nvPr>
        </p:nvSpPr>
        <p:spPr>
          <a:xfrm>
            <a:off x="314632" y="685800"/>
            <a:ext cx="4909926" cy="1474666"/>
          </a:xfrm>
        </p:spPr>
        <p:txBody>
          <a:bodyPr vert="horz" lIns="91440" tIns="45720" rIns="91440" bIns="45720" rtlCol="0" anchor="b">
            <a:noAutofit/>
          </a:bodyPr>
          <a:lstStyle/>
          <a:p>
            <a:br>
              <a:rPr lang="en-US" sz="1800" cap="none" dirty="0"/>
            </a:br>
            <a:br>
              <a:rPr lang="en-US" sz="1800" cap="none" dirty="0"/>
            </a:br>
            <a:r>
              <a:rPr lang="en-US" sz="1800" cap="none" dirty="0"/>
              <a:t>Question</a:t>
            </a:r>
            <a:br>
              <a:rPr lang="en-US" sz="1800" cap="none" dirty="0"/>
            </a:br>
            <a:br>
              <a:rPr lang="en-US" sz="1800" cap="none" dirty="0"/>
            </a:br>
            <a:r>
              <a:rPr lang="en-US" sz="1800" cap="none" dirty="0"/>
              <a:t>What is the total revenue for each category, sorted from highest to lowest</a:t>
            </a:r>
            <a:br>
              <a:rPr lang="en-US" sz="1800" cap="none" dirty="0"/>
            </a:br>
            <a:br>
              <a:rPr lang="en-US" sz="1800" cap="none" dirty="0"/>
            </a:br>
            <a:endParaRPr lang="en-US" sz="1800" kern="1200" cap="none" dirty="0">
              <a:solidFill>
                <a:srgbClr val="595959"/>
              </a:solidFill>
              <a:latin typeface="+mj-lt"/>
              <a:ea typeface="+mj-ea"/>
              <a:cs typeface="+mj-cs"/>
            </a:endParaRPr>
          </a:p>
        </p:txBody>
      </p:sp>
      <p:pic>
        <p:nvPicPr>
          <p:cNvPr id="6" name="Content Placeholder 5">
            <a:extLst>
              <a:ext uri="{FF2B5EF4-FFF2-40B4-BE49-F238E27FC236}">
                <a16:creationId xmlns:a16="http://schemas.microsoft.com/office/drawing/2014/main" id="{98DCEECA-6AE0-226B-2D3E-3D12D0200D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13439" y="167149"/>
            <a:ext cx="6550741" cy="6320362"/>
          </a:xfrm>
          <a:prstGeom prst="rect">
            <a:avLst/>
          </a:prstGeom>
        </p:spPr>
      </p:pic>
      <p:sp>
        <p:nvSpPr>
          <p:cNvPr id="4" name="Text Placeholder 3">
            <a:extLst>
              <a:ext uri="{FF2B5EF4-FFF2-40B4-BE49-F238E27FC236}">
                <a16:creationId xmlns:a16="http://schemas.microsoft.com/office/drawing/2014/main" id="{AEB552A4-DEBA-36BC-6F15-040E713DEA5A}"/>
              </a:ext>
            </a:extLst>
          </p:cNvPr>
          <p:cNvSpPr>
            <a:spLocks noGrp="1"/>
          </p:cNvSpPr>
          <p:nvPr>
            <p:ph type="body" sz="half" idx="2"/>
          </p:nvPr>
        </p:nvSpPr>
        <p:spPr>
          <a:xfrm>
            <a:off x="871442" y="2447337"/>
            <a:ext cx="4353116" cy="3770434"/>
          </a:xfrm>
        </p:spPr>
        <p:txBody>
          <a:bodyPr vert="horz" lIns="91440" tIns="45720" rIns="91440" bIns="45720" rtlCol="0" anchor="t">
            <a:normAutofit/>
          </a:bodyPr>
          <a:lstStyle/>
          <a:p>
            <a:pPr indent="-228600">
              <a:buFont typeface="Arial" panose="020B0604020202020204" pitchFamily="34" charset="0"/>
              <a:buChar char="•"/>
            </a:pPr>
            <a:endParaRPr lang="en-US" sz="2000" dirty="0"/>
          </a:p>
          <a:p>
            <a:pPr indent="-228600">
              <a:buFont typeface="Arial" panose="020B0604020202020204" pitchFamily="34" charset="0"/>
              <a:buChar char="•"/>
            </a:pPr>
            <a:endParaRPr lang="en-US" sz="2000" dirty="0"/>
          </a:p>
          <a:p>
            <a:pPr indent="-228600">
              <a:buFont typeface="Arial" panose="020B0604020202020204" pitchFamily="34" charset="0"/>
              <a:buChar char="•"/>
            </a:pPr>
            <a:endParaRPr lang="en-US" sz="2000" dirty="0"/>
          </a:p>
          <a:p>
            <a:r>
              <a:rPr lang="en-US" sz="2000" dirty="0"/>
              <a:t>What is the total revenue for each category, sorted from highest to lowest</a:t>
            </a:r>
            <a:endParaRPr lang="en-US" sz="2000" dirty="0">
              <a:solidFill>
                <a:srgbClr val="595959"/>
              </a:solidFill>
            </a:endParaRPr>
          </a:p>
        </p:txBody>
      </p:sp>
    </p:spTree>
    <p:extLst>
      <p:ext uri="{BB962C8B-B14F-4D97-AF65-F5344CB8AC3E}">
        <p14:creationId xmlns:p14="http://schemas.microsoft.com/office/powerpoint/2010/main" val="2974907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03E1130-C6B1-DAA8-0797-3A58E4BB4CED}"/>
              </a:ext>
            </a:extLst>
          </p:cNvPr>
          <p:cNvSpPr>
            <a:spLocks noGrp="1"/>
          </p:cNvSpPr>
          <p:nvPr>
            <p:ph type="title"/>
          </p:nvPr>
        </p:nvSpPr>
        <p:spPr>
          <a:xfrm>
            <a:off x="1" y="570272"/>
            <a:ext cx="4702628" cy="1740849"/>
          </a:xfrm>
        </p:spPr>
        <p:txBody>
          <a:bodyPr>
            <a:normAutofit fontScale="90000"/>
          </a:bodyPr>
          <a:lstStyle/>
          <a:p>
            <a:r>
              <a:rPr lang="en-US" cap="none" dirty="0"/>
              <a:t>What is the patterns at which the total revenue is distributed over the year 2022 to 2o25</a:t>
            </a:r>
          </a:p>
        </p:txBody>
      </p:sp>
      <p:pic>
        <p:nvPicPr>
          <p:cNvPr id="26" name="Content Placeholder 25">
            <a:extLst>
              <a:ext uri="{FF2B5EF4-FFF2-40B4-BE49-F238E27FC236}">
                <a16:creationId xmlns:a16="http://schemas.microsoft.com/office/drawing/2014/main" id="{8C202A3D-8C20-BE8F-2A57-329C0F68A98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95863" y="1546213"/>
            <a:ext cx="6510337" cy="3871937"/>
          </a:xfrm>
          <a:prstGeom prst="rect">
            <a:avLst/>
          </a:prstGeom>
        </p:spPr>
      </p:pic>
      <p:sp>
        <p:nvSpPr>
          <p:cNvPr id="10" name="Text Placeholder 9">
            <a:extLst>
              <a:ext uri="{FF2B5EF4-FFF2-40B4-BE49-F238E27FC236}">
                <a16:creationId xmlns:a16="http://schemas.microsoft.com/office/drawing/2014/main" id="{F0F62143-A563-3020-8DE3-CDEDB69CA4FF}"/>
              </a:ext>
            </a:extLst>
          </p:cNvPr>
          <p:cNvSpPr>
            <a:spLocks noGrp="1"/>
          </p:cNvSpPr>
          <p:nvPr>
            <p:ph type="body" sz="half" idx="2"/>
          </p:nvPr>
        </p:nvSpPr>
        <p:spPr>
          <a:xfrm>
            <a:off x="97973" y="4070555"/>
            <a:ext cx="4702627" cy="1199535"/>
          </a:xfrm>
        </p:spPr>
        <p:txBody>
          <a:bodyPr>
            <a:normAutofit/>
          </a:bodyPr>
          <a:lstStyle/>
          <a:p>
            <a:r>
              <a:rPr lang="en-US" dirty="0"/>
              <a:t>The chart shows steady revenue growth over time, with the strongest increase  in 2025, indicating improving sales performance and good business growth.</a:t>
            </a:r>
          </a:p>
          <a:p>
            <a:endParaRPr lang="en-US" sz="1600" b="0" dirty="0"/>
          </a:p>
        </p:txBody>
      </p:sp>
      <p:sp>
        <p:nvSpPr>
          <p:cNvPr id="12" name="Text Placeholder 11">
            <a:extLst>
              <a:ext uri="{FF2B5EF4-FFF2-40B4-BE49-F238E27FC236}">
                <a16:creationId xmlns:a16="http://schemas.microsoft.com/office/drawing/2014/main" id="{98F48E83-DF68-56DA-6537-511F510E42C4}"/>
              </a:ext>
            </a:extLst>
          </p:cNvPr>
          <p:cNvSpPr>
            <a:spLocks noGrp="1"/>
          </p:cNvSpPr>
          <p:nvPr>
            <p:ph type="body" sz="quarter" idx="4294967295"/>
          </p:nvPr>
        </p:nvSpPr>
        <p:spPr>
          <a:xfrm>
            <a:off x="1" y="147485"/>
            <a:ext cx="2064773" cy="422786"/>
          </a:xfrm>
        </p:spPr>
        <p:txBody>
          <a:bodyPr>
            <a:normAutofit/>
          </a:bodyPr>
          <a:lstStyle/>
          <a:p>
            <a:r>
              <a:rPr lang="en-US" dirty="0"/>
              <a:t>PivotChart</a:t>
            </a:r>
          </a:p>
          <a:p>
            <a:endParaRPr lang="en-US" dirty="0"/>
          </a:p>
        </p:txBody>
      </p:sp>
    </p:spTree>
    <p:extLst>
      <p:ext uri="{BB962C8B-B14F-4D97-AF65-F5344CB8AC3E}">
        <p14:creationId xmlns:p14="http://schemas.microsoft.com/office/powerpoint/2010/main" val="1251848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B6B9731-C562-ADB3-9681-3D1BE2AF36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757" y="1115367"/>
            <a:ext cx="10845176" cy="5596932"/>
          </a:xfrm>
          <a:prstGeom prst="rect">
            <a:avLst/>
          </a:prstGeom>
        </p:spPr>
      </p:pic>
      <p:sp>
        <p:nvSpPr>
          <p:cNvPr id="7" name="Title 6">
            <a:extLst>
              <a:ext uri="{FF2B5EF4-FFF2-40B4-BE49-F238E27FC236}">
                <a16:creationId xmlns:a16="http://schemas.microsoft.com/office/drawing/2014/main" id="{6073EC06-B247-5BA1-CE7C-8353BF8B876C}"/>
              </a:ext>
            </a:extLst>
          </p:cNvPr>
          <p:cNvSpPr>
            <a:spLocks noGrp="1"/>
          </p:cNvSpPr>
          <p:nvPr>
            <p:ph type="title"/>
          </p:nvPr>
        </p:nvSpPr>
        <p:spPr>
          <a:xfrm>
            <a:off x="1818752" y="0"/>
            <a:ext cx="9054401" cy="713433"/>
          </a:xfrm>
        </p:spPr>
        <p:txBody>
          <a:bodyPr>
            <a:normAutofit/>
          </a:bodyPr>
          <a:lstStyle/>
          <a:p>
            <a:pPr algn="l"/>
            <a:r>
              <a:rPr lang="en-US" cap="none" dirty="0" err="1"/>
              <a:t>EmperiUm</a:t>
            </a:r>
            <a:r>
              <a:rPr lang="en-US" cap="none" dirty="0"/>
              <a:t> Dashboard Colorado</a:t>
            </a:r>
          </a:p>
        </p:txBody>
      </p:sp>
    </p:spTree>
    <p:extLst>
      <p:ext uri="{BB962C8B-B14F-4D97-AF65-F5344CB8AC3E}">
        <p14:creationId xmlns:p14="http://schemas.microsoft.com/office/powerpoint/2010/main" val="2553525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157256-FED8-C804-D57A-85BB06E7D6E3}"/>
              </a:ext>
            </a:extLst>
          </p:cNvPr>
          <p:cNvSpPr>
            <a:spLocks noGrp="1"/>
          </p:cNvSpPr>
          <p:nvPr>
            <p:ph type="title"/>
          </p:nvPr>
        </p:nvSpPr>
        <p:spPr>
          <a:xfrm>
            <a:off x="173334" y="418681"/>
            <a:ext cx="6873240" cy="1600200"/>
          </a:xfrm>
        </p:spPr>
        <p:txBody>
          <a:bodyPr/>
          <a:lstStyle/>
          <a:p>
            <a:r>
              <a:rPr lang="en-US" dirty="0"/>
              <a:t>GitHub Repository </a:t>
            </a:r>
          </a:p>
        </p:txBody>
      </p:sp>
      <p:pic>
        <p:nvPicPr>
          <p:cNvPr id="5" name="Picture Placeholder 4">
            <a:extLst>
              <a:ext uri="{FF2B5EF4-FFF2-40B4-BE49-F238E27FC236}">
                <a16:creationId xmlns:a16="http://schemas.microsoft.com/office/drawing/2014/main" id="{E3E4BCCF-04C9-3675-AF86-47C008BC099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705" r="1705"/>
          <a:stretch>
            <a:fillRect/>
          </a:stretch>
        </p:blipFill>
        <p:spPr>
          <a:prstGeom prst="rect">
            <a:avLst/>
          </a:prstGeom>
        </p:spPr>
      </p:pic>
      <p:sp>
        <p:nvSpPr>
          <p:cNvPr id="2" name="Content Placeholder 1">
            <a:extLst>
              <a:ext uri="{FF2B5EF4-FFF2-40B4-BE49-F238E27FC236}">
                <a16:creationId xmlns:a16="http://schemas.microsoft.com/office/drawing/2014/main" id="{A0D80D99-22D0-7D35-26F0-37402E632F51}"/>
              </a:ext>
            </a:extLst>
          </p:cNvPr>
          <p:cNvSpPr>
            <a:spLocks noGrp="1"/>
          </p:cNvSpPr>
          <p:nvPr>
            <p:ph type="body" sz="half" idx="2"/>
          </p:nvPr>
        </p:nvSpPr>
        <p:spPr>
          <a:xfrm>
            <a:off x="173334" y="3214635"/>
            <a:ext cx="6873240" cy="3094485"/>
          </a:xfrm>
        </p:spPr>
        <p:txBody>
          <a:bodyPr/>
          <a:lstStyle/>
          <a:p>
            <a:r>
              <a:rPr lang="en-US" dirty="0">
                <a:hlinkClick r:id="rId3"/>
              </a:rPr>
              <a:t>https://github.com/kalie-on/Capstone_1.git</a:t>
            </a:r>
            <a:endParaRPr lang="en-US" dirty="0"/>
          </a:p>
          <a:p>
            <a:r>
              <a:rPr lang="en-US" sz="1800" dirty="0"/>
              <a:t>Thank you very much for your honest understanding. Visit my repository more information and visualization on how </a:t>
            </a:r>
            <a:r>
              <a:rPr lang="en-US" sz="1800" dirty="0" err="1"/>
              <a:t>EmperiUm</a:t>
            </a:r>
            <a:r>
              <a:rPr lang="en-US" sz="1800" dirty="0"/>
              <a:t> in the West region, Colorado</a:t>
            </a:r>
          </a:p>
          <a:p>
            <a:pPr marL="0" indent="0">
              <a:buNone/>
            </a:pPr>
            <a:endParaRPr lang="en-US" dirty="0"/>
          </a:p>
          <a:p>
            <a:endParaRPr lang="en-US" dirty="0"/>
          </a:p>
        </p:txBody>
      </p:sp>
    </p:spTree>
    <p:extLst>
      <p:ext uri="{BB962C8B-B14F-4D97-AF65-F5344CB8AC3E}">
        <p14:creationId xmlns:p14="http://schemas.microsoft.com/office/powerpoint/2010/main" val="2734377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22DDE2-FB2D-421B-B377-F9AD495CE9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pic>
        <p:nvPicPr>
          <p:cNvPr id="10" name="Picture 9">
            <a:extLst>
              <a:ext uri="{FF2B5EF4-FFF2-40B4-BE49-F238E27FC236}">
                <a16:creationId xmlns:a16="http://schemas.microsoft.com/office/drawing/2014/main" id="{A995140B-9736-47E4-9A7D-ABB32F3AAA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useBgFill="1">
        <p:nvSpPr>
          <p:cNvPr id="12" name="Rectangle 11">
            <a:extLst>
              <a:ext uri="{FF2B5EF4-FFF2-40B4-BE49-F238E27FC236}">
                <a16:creationId xmlns:a16="http://schemas.microsoft.com/office/drawing/2014/main" id="{E770CA6A-B3B0-4826-A91F-B2B1F8922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3C51B9DA-B0CC-480A-8EA5-4D5C3E0515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a:extLst>
              <a:ext uri="{FF2B5EF4-FFF2-40B4-BE49-F238E27FC236}">
                <a16:creationId xmlns:a16="http://schemas.microsoft.com/office/drawing/2014/main" id="{ECC78911-650D-B45B-D5D1-9E4E75F0DC0A}"/>
              </a:ext>
            </a:extLst>
          </p:cNvPr>
          <p:cNvSpPr>
            <a:spLocks noGrp="1"/>
          </p:cNvSpPr>
          <p:nvPr>
            <p:ph type="title"/>
          </p:nvPr>
        </p:nvSpPr>
        <p:spPr>
          <a:xfrm>
            <a:off x="4976028" y="965200"/>
            <a:ext cx="6170943" cy="4329641"/>
          </a:xfrm>
        </p:spPr>
        <p:txBody>
          <a:bodyPr vert="horz" lIns="91440" tIns="45720" rIns="91440" bIns="45720" rtlCol="0" anchor="ctr">
            <a:normAutofit/>
          </a:bodyPr>
          <a:lstStyle/>
          <a:p>
            <a:r>
              <a:rPr lang="en-US" sz="5400"/>
              <a:t>THANK YOU FOR LISTENIG</a:t>
            </a:r>
          </a:p>
        </p:txBody>
      </p:sp>
      <p:sp>
        <p:nvSpPr>
          <p:cNvPr id="3" name="Content Placeholder 2">
            <a:extLst>
              <a:ext uri="{FF2B5EF4-FFF2-40B4-BE49-F238E27FC236}">
                <a16:creationId xmlns:a16="http://schemas.microsoft.com/office/drawing/2014/main" id="{8EBBD3F2-40AE-3773-4AFC-ADFF4E0D98BE}"/>
              </a:ext>
            </a:extLst>
          </p:cNvPr>
          <p:cNvSpPr>
            <a:spLocks noGrp="1"/>
          </p:cNvSpPr>
          <p:nvPr>
            <p:ph type="body" sz="half" idx="2"/>
          </p:nvPr>
        </p:nvSpPr>
        <p:spPr>
          <a:xfrm>
            <a:off x="965200" y="965200"/>
            <a:ext cx="3367361" cy="4329641"/>
          </a:xfrm>
        </p:spPr>
        <p:txBody>
          <a:bodyPr vert="horz" lIns="91440" tIns="45720" rIns="91440" bIns="45720" rtlCol="0" anchor="ctr">
            <a:normAutofit/>
          </a:bodyPr>
          <a:lstStyle/>
          <a:p>
            <a:pPr algn="r"/>
            <a:r>
              <a:rPr lang="en-US" sz="2000"/>
              <a:t>THE  END</a:t>
            </a:r>
          </a:p>
        </p:txBody>
      </p:sp>
      <p:cxnSp>
        <p:nvCxnSpPr>
          <p:cNvPr id="16" name="Straight Connector 15">
            <a:extLst>
              <a:ext uri="{FF2B5EF4-FFF2-40B4-BE49-F238E27FC236}">
                <a16:creationId xmlns:a16="http://schemas.microsoft.com/office/drawing/2014/main" id="{6FE641DB-A503-41DE-ACA6-36B41C6C2B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621260"/>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1864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1419</TotalTime>
  <Words>727</Words>
  <Application>Microsoft Office PowerPoint</Application>
  <PresentationFormat>Widescreen</PresentationFormat>
  <Paragraphs>50</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Century Gothic</vt:lpstr>
      <vt:lpstr>Wingdings</vt:lpstr>
      <vt:lpstr>Vapor Trail</vt:lpstr>
      <vt:lpstr>Capstone Project EmporiUm Business Chain</vt:lpstr>
      <vt:lpstr>Introduction</vt:lpstr>
      <vt:lpstr>Sales Analysis  Questions</vt:lpstr>
      <vt:lpstr>Confirm managers sale territory and region  what is total revenue overall for sales in the assigned territory, plus the start date and end date that tell you what period the data covers?</vt:lpstr>
      <vt:lpstr>What is the month by month revenue breakdown for the sales territory? </vt:lpstr>
      <vt:lpstr>Provide a comparison of total revenue for the specific sales territory and the region it belongs to. </vt:lpstr>
      <vt:lpstr>What is the number of transactions per month and average transaction size by product category for the sales territory? </vt:lpstr>
      <vt:lpstr>Can you provide a ranking of in-store sales performance by each store in the sales territory, or a ranking of online sales performance by state within an online sales territory? </vt:lpstr>
      <vt:lpstr>What is your recommendation for where to focus sales attention in the next quarter?   After I analyze the sales data by running SQL queries to understand which stores, categories, and sales channels perform the best.  My recommendation is to focus more resources on the stores that are bringing in the highest revenue, such as parker and technology and accessories, because they are already performing well and can generate even more profit.  The company should also continue to grow its online sales, since online sales are contributing strong revenue and have good potential for further growth.  At the same time, stores with lower revenue should not be ignored. They should be supported and given opportunities to grow by expanding their market and improving performance.   </vt:lpstr>
      <vt:lpstr>Visualization</vt:lpstr>
      <vt:lpstr>  Question  What is the total revenue for each category, sorted from highest to lowest  </vt:lpstr>
      <vt:lpstr>What is the patterns at which the total revenue is distributed over the year 2022 to 2o25</vt:lpstr>
      <vt:lpstr>EmperiUm Dashboard Colorado</vt:lpstr>
      <vt:lpstr>GitHub Repository </vt:lpstr>
      <vt:lpstr>THANK YOU FOR LISTENIG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Deodat P. Sharma</dc:creator>
  <cp:lastModifiedBy>calebndifon2@gmail.com</cp:lastModifiedBy>
  <cp:revision>7</cp:revision>
  <dcterms:created xsi:type="dcterms:W3CDTF">2026-04-29T09:01:01Z</dcterms:created>
  <dcterms:modified xsi:type="dcterms:W3CDTF">2026-04-30T19:15:40Z</dcterms:modified>
</cp:coreProperties>
</file>